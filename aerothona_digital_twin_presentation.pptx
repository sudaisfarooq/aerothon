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22D3EE"/>
                </a:solidFill>
                <a:latin typeface="Outfit"/>
              </a:defRPr>
            </a:pPr>
            <a:r>
              <a:t>AEROTHONA</a:t>
            </a:r>
          </a:p>
          <a:p>
            <a:pPr>
              <a:spcBef>
                <a:spcPts val="1000"/>
              </a:spcBef>
              <a:defRPr sz="2600" b="1">
                <a:solidFill>
                  <a:srgbClr val="F8FAFC"/>
                </a:solidFill>
                <a:latin typeface="Outfit"/>
              </a:defRPr>
            </a:pPr>
            <a:r>
              <a:t>Physics-Informed Digital Twin for Turbojet Diagnostics</a:t>
            </a:r>
          </a:p>
          <a:p>
            <a:pPr>
              <a:spcBef>
                <a:spcPts val="3000"/>
              </a:spcBef>
              <a:defRPr sz="1400">
                <a:solidFill>
                  <a:srgbClr val="CBD5E1"/>
                </a:solidFill>
                <a:latin typeface="Inter"/>
              </a:defRPr>
            </a:pPr>
            <a:r>
              <a:t>Widescreen Technical Presentation | HAL Aerothon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Outfit"/>
              </a:defRPr>
            </a:pPr>
            <a:r>
              <a:t>01. The Challenge: Subsystem Health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Outfit"/>
              </a:defRPr>
            </a:pPr>
            <a:r>
              <a:t>Hidden Subsystem Degradations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Critical parameters (Compressor, Combustor, and Turbine health) cannot be directly measured via physical sensors due to extreme temperatures.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Harsh operating envelopes cause progressive thermal and structural wear over multiple flight cycles.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Traditional monitoring relies on delayed visual inspections and offline simulation models.</a:t>
            </a:r>
          </a:p>
          <a:p>
            <a:pPr>
              <a:spcAft>
                <a:spcPts val="8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Required: A real-time, interpretable system to estimate hidden health indicators, thrust output, and TSFC.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1A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5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Dataset Physical Scope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Inter"/>
              </a:defRPr>
            </a:pPr>
            <a:r>
              <a:t>→ Telemetry Input: 12 physical sensors + Cycle count (13 total features).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Inter"/>
              </a:defRPr>
            </a:pPr>
            <a:r>
              <a:t>→ Flight Envelope: Continuous profile (Altitude: 0 to 12,053 m | Mach: 0.0 to 0.90).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Inter"/>
              </a:defRPr>
            </a:pPr>
            <a:r>
              <a:t>→ Rotational Spool Speed: High-speed micro-turbojet configuration (30,120 to 80,941 RPM).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Inter"/>
              </a:defRPr>
            </a:pPr>
            <a:r>
              <a:t>→ Cycle wear: Telemetry mapped from Cycle 1 to 30 to capture aging.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Outfit"/>
              </a:defRPr>
            </a:pPr>
            <a:r>
              <a:t>02. Grey-Box Physics-Informed Neural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Outfit"/>
              </a:defRPr>
            </a:pPr>
            <a:r>
              <a:t>Deep Learning Backbone &amp; Scaling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Multi-Layer Perceptron (MLP) architecture: 13 inputs (sensors + cycle) -&gt; Dense(64, Tanh) -&gt; Dense(64, Tanh) -&gt; Dense(32, Tanh) -&gt; Dense(6, Linear) mapping outputs.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Tanh activation functions enforce continuous second-order derivatives, ensuring smooth backpropagation gradients.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Standard scaling maps inputs/outputs to standard normal distributions during backpropagation to prevent scale imbalances.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1A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000"/>
              </a:spcAft>
              <a:defRPr sz="1800" b="1">
                <a:solidFill>
                  <a:srgbClr val="22D3EE"/>
                </a:solidFill>
                <a:latin typeface="Outfit"/>
              </a:defRPr>
            </a:pPr>
            <a:r>
              <a:t>Calorically Semi-Perfect Thermodynamics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Temperature-Dependent Specific Heat: Discards constant cp assumptions (gamma=1.4) to calculate average cp dynamically based on temperature, capturing real gas behavior.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Compressor regularizations enforce isentropic compression efficiency bounds from inlet to Station 2.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Turbine regularizations enforce work extraction efficiency constraints from Station 3 to Station 4.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Empirical constraints: Combustor pressure drop ratio (P3/P2 = 0.949) and algebraic health sum (0.4*Comp + 0.3*Comb + 0.3*Turb = Overall).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Outfit"/>
              </a:defRPr>
            </a:pPr>
            <a:r>
              <a:t>03. Model Accuracy &amp; Uncertainty Quantification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4592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22D3EE"/>
                          </a:solidFill>
                        </a:defRPr>
                      </a:pPr>
                      <a:r>
                        <a:t>Diagnostic Target</a:t>
                      </a:r>
                    </a:p>
                  </a:txBody>
                  <a:tcPr>
                    <a:solidFill>
                      <a:srgbClr val="141A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22D3EE"/>
                          </a:solidFill>
                        </a:defRPr>
                      </a:pPr>
                      <a:r>
                        <a:t>Validation RMSE</a:t>
                      </a:r>
                    </a:p>
                  </a:txBody>
                  <a:tcPr>
                    <a:solidFill>
                      <a:srgbClr val="141A2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22D3EE"/>
                          </a:solidFill>
                        </a:defRPr>
                      </a:pPr>
                      <a:r>
                        <a:t>Test set R² Score</a:t>
                      </a:r>
                    </a:p>
                  </a:txBody>
                  <a:tcPr>
                    <a:solidFill>
                      <a:srgbClr val="141A2D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CompressorHealth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93.27%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CombustorHealth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65.58%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TurbineHealth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73.44%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OverallHealth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95.15%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Engine Thrust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1,476.80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99.13%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TSFC (g/N/s)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0.0006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99.25%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4944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22D3EE"/>
                </a:solidFill>
                <a:latin typeface="Outfit"/>
              </a:defRPr>
            </a:pPr>
            <a:r>
              <a:t>95% Confidence Intervals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Uncertainty Bounds: Computed dynamically for predictions using 1.96 * Validation RMSE.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Thrust Uncertainty: +/- 2,895 N (high accuracy, R²: 99.13%).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TSFC Uncertainty: +/- 0.0012 g/N/s (R²: 99.25%).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Component health bounds: Compressor (+/- 3.8%), Combustor (+/- 3.4%), Turbine (+/- 4.8%), Overall (+/- 2.2%).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The 95% Confidence Interval is dynamically rendered beneath all performance values on the interface.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2D3EE"/>
                </a:solidFill>
                <a:latin typeface="Outfit"/>
              </a:defRPr>
            </a:pPr>
            <a:r>
              <a:t>04. Serverless Dashboard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F8FAFC"/>
                </a:solidFill>
                <a:latin typeface="Outfit"/>
              </a:defRPr>
            </a:pPr>
            <a:r>
              <a:t>100% Client-Side Execution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Model weights and standard scaling parameters are compiled directly into public/weights.js.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Inference is computed instantly in browser javascript via matrix multiplications and tanh evaluations.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No server round-trip network delays: predictions are generated instantly as sliders are moved.</a:t>
            </a:r>
          </a:p>
          <a:p>
            <a:pPr>
              <a:spcAft>
                <a:spcPts val="1000"/>
              </a:spcAft>
              <a:defRPr sz="1300">
                <a:solidFill>
                  <a:srgbClr val="CBD5E1"/>
                </a:solidFill>
                <a:latin typeface="Inter"/>
              </a:defRPr>
            </a:pPr>
            <a:r>
              <a:t>• Removes backend database and server dependencies, allowing the web app to run offline or on any static host.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303520" cy="4114800"/>
          </a:xfrm>
          <a:prstGeom prst="roundRect">
            <a:avLst/>
          </a:prstGeom>
          <a:solidFill>
            <a:srgbClr val="141A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200"/>
              </a:spcAft>
              <a:defRPr sz="1800" b="1">
                <a:solidFill>
                  <a:srgbClr val="22D3EE"/>
                </a:solidFill>
                <a:latin typeface="Outfit"/>
              </a:defRPr>
            </a:pPr>
            <a:r>
              <a:t>Hosting &amp; Delivery Settings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GitHub Sync: Project code is committed and pushed directly to SudaisFarooq/Aerothon.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Netlify Support: Configured via netlify.toml, serving the public/ static assets folder automatically.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Zero Setup Deployment: Simply link the GitHub repo to Netlify to host it live for free in under 30 seconds.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Inter"/>
              </a:defRPr>
            </a:pPr>
            <a:r>
              <a:t>→ Local Dev Server: Includes server.js to run on http://localhost:3000 if a local Express server is preferred.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