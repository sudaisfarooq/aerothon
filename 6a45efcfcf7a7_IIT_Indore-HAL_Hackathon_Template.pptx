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SemiBold" panose="020F0502020204030204" pitchFamily="2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52675" y="3201441"/>
            <a:ext cx="7486650" cy="161716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35392" y="1277391"/>
            <a:ext cx="972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AEROTHON 2026 - HAL x IITI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19350" y="2115591"/>
            <a:ext cx="73533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924175" y="3611016"/>
            <a:ext cx="6343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334155"/>
                </a:solidFill>
                <a:latin typeface="Open Sans"/>
              </a:defRPr>
            </a:pPr>
            <a:r>
              <a:t>Team Name: Aerothona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24175" y="4071937"/>
            <a:ext cx="6343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334155"/>
                </a:solidFill>
                <a:latin typeface="Open Sans"/>
              </a:defRPr>
            </a:pPr>
            <a:r>
              <a:t>Participants: Sudais Farooq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750" y="4944825"/>
            <a:ext cx="1639300" cy="17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51687" y="5107975"/>
            <a:ext cx="3925114" cy="161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99040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369A1"/>
                </a:solidFill>
                <a:latin typeface="Montserrat SemiBold"/>
              </a:defRPr>
            </a:pPr>
            <a:r>
              <a:t>Real-Time Four-Stage Turbojet Subsystem Health Estimation</a:t>
            </a:r>
            <a:endParaRPr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PROBLEM UNDERSTANDING &amp; MOTIVATION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475569"/>
                </a:solidFill>
                <a:latin typeface="Open Sans"/>
              </a:defRPr>
            </a:pPr>
            <a:r>
              <a:t>• Goal: Monitor the state of a single-spool four-stage turbojet engine by estimating hidden component health indicators (Compressor, Combustor, Turbine health) and overall engine performance (Thrust, TSFC).</a:t>
            </a:r>
            <a:endParaRPr dirty="0"/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Motivation: Direct physical measurement of turbine inlet temperature (T3) and interior component state is impossible in real-time due to extreme heat and aerodynamic pressure.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Solution Significance: Real-time health estimation prevents catastrophic engine failures, reduces maintenance downtime, and optimizes fuel consumption.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Challenge Scope: Flight envelope covers altitudes up to 12,053 m and speed up to 0.90 Mach. Rotor spool speeds run up to 80,941 RPM. Subsystem states degrade progressively over 30 cycles.</a:t>
            </a:r>
          </a:p>
        </p:txBody>
      </p:sp>
      <p:sp>
        <p:nvSpPr>
          <p:cNvPr id="108" name="Google Shape;108;p14"/>
          <p:cNvSpPr txBox="1"/>
          <p:nvPr/>
        </p:nvSpPr>
        <p:spPr>
          <a:xfrm>
            <a:off x="5800725" y="6248400"/>
            <a:ext cx="59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/>
          </a:p>
        </p:txBody>
      </p:sp>
      <p:pic>
        <p:nvPicPr>
          <p:cNvPr id="109" name="Google Shape;10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4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LITERATURE REVIEW / EXISTING APPROACHES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5800725" y="6248400"/>
            <a:ext cx="59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/>
          </a:p>
        </p:txBody>
      </p:sp>
      <p:pic>
        <p:nvPicPr>
          <p:cNvPr id="126" name="Google Shape;12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8;p14">
            <a:extLst>
              <a:ext uri="{FF2B5EF4-FFF2-40B4-BE49-F238E27FC236}">
                <a16:creationId xmlns:a16="http://schemas.microsoft.com/office/drawing/2014/main" id="{3FCAE9A5-D5BC-FD02-1037-7A44538C6E12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369A1"/>
                </a:solidFill>
                <a:latin typeface="Montserrat SemiBold"/>
              </a:defRPr>
            </a:pPr>
            <a:r>
              <a:t>Empirical Models vs. Physics-Informed Digital Twins</a:t>
            </a:r>
            <a:endParaRPr dirty="0"/>
          </a:p>
        </p:txBody>
      </p:sp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58BC1821-35FE-521F-2DA3-5C7D193515E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2;p14">
            <a:extLst>
              <a:ext uri="{FF2B5EF4-FFF2-40B4-BE49-F238E27FC236}">
                <a16:creationId xmlns:a16="http://schemas.microsoft.com/office/drawing/2014/main" id="{B2D1AB45-3A64-10F8-1DA7-8B3CA9B163FB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475569"/>
                </a:solidFill>
                <a:latin typeface="Open Sans"/>
              </a:defRPr>
            </a:pPr>
            <a:r>
              <a:t>• Traditional Data-Driven Models: Standard Machine Learning models (MLP, XGBoost) fit telemetry data but ignore physical laws. They are prone to predicting non-physical engine states under flight envelope transitions.</a:t>
            </a:r>
            <a:endParaRPr dirty="0"/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Constant Specific Heat Ratio Assumptions: Conventional textbook Thermodynamic models assume constant Specific Heat (gamma = 1.4), which fails above 1,000 K where air behaves as a calorically semi-perfect gas.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High-Fidelity Simulation Models: Standard gas turbine transient simulation tools are highly accurate but computationally heavy, preventing real-time on-board edge diagnostics.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Selected Framework: A Physics-Informed Neural Network (PINN) that integrates temperature-dependent gas dynamics (Cp(T) polynomials) to combine data-driven speed with thermodynamic consistency.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28850"/>
            <a:ext cx="8572500" cy="335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52500" y="571500"/>
            <a:ext cx="110013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PROPOSED METHODOLOGY &amp; TECHNICAL APPROACH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762000" y="571500"/>
            <a:ext cx="57150" cy="990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5791200" y="6248400"/>
            <a:ext cx="6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097467AD-63AF-0FA4-4A22-3827DCA0CE2F}"/>
              </a:ext>
            </a:extLst>
          </p:cNvPr>
          <p:cNvSpPr txBox="1"/>
          <p:nvPr/>
        </p:nvSpPr>
        <p:spPr>
          <a:xfrm>
            <a:off x="1102442" y="2337005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369A1"/>
                </a:solidFill>
                <a:latin typeface="Montserrat SemiBold"/>
              </a:defRPr>
            </a:pPr>
            <a:r>
              <a:t>Grey-Box Physics-Informed Neural Network (PINN)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5802B9E2-5E32-1BB9-8825-B6165E19815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2442" y="2356055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43F6D951-73EB-8D05-A5E5-6A005C60B5A9}"/>
              </a:ext>
            </a:extLst>
          </p:cNvPr>
          <p:cNvSpPr txBox="1"/>
          <p:nvPr/>
        </p:nvSpPr>
        <p:spPr>
          <a:xfrm>
            <a:off x="1207217" y="2691335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475569"/>
                </a:solidFill>
                <a:latin typeface="Open Sans"/>
              </a:defRPr>
            </a:pPr>
            <a:r>
              <a:t>• Deep Learning Architecture: Multi-Layer Perceptron (MLP) mapping 13 inputs (sensors + Cycle) to 6 outputs (Health indexes, Thrust, TSFC).</a:t>
            </a:r>
            <a:endParaRPr dirty="0"/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Calorically Semi-Perfect Gas Model: Evaluates specific heat ratio k(T) = R/Cp(T) dynamically at average compressor and turbine stage temperatures: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  Cp(T) = 1005 + 0.05 * T + 1.5e-4 * T^2 - 8e-8 * T^3 J/(kg.K)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Physics-Regularized Loss: Enforces isentropic compressor temperature rises, isentropic turbine work extraction, and combustor pressure recovery ratio (P3/P2 = 0.949).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Multi-Objective Optimization: Formulates loss as a combination of data loss, empirical health checks, and Brayton cycle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4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SOURCES &amp; PREPROCESSING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800725" y="6248400"/>
            <a:ext cx="59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E2B74A93-26E3-F1F7-7D30-FE25F9EE847C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369A1"/>
                </a:solidFill>
                <a:latin typeface="Montserrat SemiBold"/>
              </a:defRPr>
            </a:pPr>
            <a:r>
              <a:t>Telemetry Scaling &amp; Dataset Analysis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15033D09-E504-38CB-B770-2303E9818D9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B49456A6-D140-09CA-B389-C3B4A5D8C898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475569"/>
                </a:solidFill>
                <a:latin typeface="Open Sans"/>
              </a:defRPr>
            </a:pPr>
            <a:r>
              <a:t>• Data Source: HAL PS-2 synthetic flight telemetry dataset. Consists of 10 virtual engine fleets operating over 30 cycles.</a:t>
            </a:r>
            <a:endParaRPr dirty="0"/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Feature Engineering: Prepend Cycle (index 0) as the 13th feature to represent temporal wear progression.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Scaling: Applied Standard Scaling to center inputs (X_mean, X_scale) and targets (y_mean, y_scale) around zero, ensuring balanced backpropagation gradient flow.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Physics Unscaling: Scaling parameters are registered as PyTorch tensors to dynamically unscale parameters inside the custom loss module, allowing accurate physical laws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28850"/>
            <a:ext cx="8572500" cy="29904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952500" y="571500"/>
            <a:ext cx="110013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MODEL ARCHITECTURE / IMPLEMENTATION PLAN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762000" y="571500"/>
            <a:ext cx="57150" cy="990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795962" y="6248400"/>
            <a:ext cx="60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/>
          </a:p>
        </p:txBody>
      </p:sp>
      <p:pic>
        <p:nvPicPr>
          <p:cNvPr id="181" name="Google Shape;18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E201B0AE-D27A-963C-D6AE-71E26950C59A}"/>
              </a:ext>
            </a:extLst>
          </p:cNvPr>
          <p:cNvSpPr txBox="1"/>
          <p:nvPr/>
        </p:nvSpPr>
        <p:spPr>
          <a:xfrm>
            <a:off x="1033616" y="2400747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369A1"/>
                </a:solidFill>
                <a:latin typeface="Montserrat SemiBold"/>
              </a:defRPr>
            </a:pPr>
            <a:r>
              <a:t>Model Export &amp; Serverless Client-Side Deployment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1C84B963-8A88-75E4-BAF8-56C15D1587D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3616" y="2419797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D7D2B192-726F-6C32-D8C2-70B19266B5D7}"/>
              </a:ext>
            </a:extLst>
          </p:cNvPr>
          <p:cNvSpPr txBox="1"/>
          <p:nvPr/>
        </p:nvSpPr>
        <p:spPr>
          <a:xfrm>
            <a:off x="1138391" y="2755077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475569"/>
                </a:solidFill>
                <a:latin typeface="Open Sans"/>
              </a:defRPr>
            </a:pPr>
            <a:r>
              <a:t>• Training: Trained in PyTorch over 800 epochs with Adam optimizer and Cosine Annealing learning rate schedule.</a:t>
            </a:r>
            <a:endParaRPr dirty="0"/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Model Conversion: Extracted weights, biases, and scaling factors from PyTorch .pt file and exported them to JavaScript (weights.js).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Client-Side Execution: Neural network forward pass is computed directly in the user's browser using local matrix multiplication and Tanh activations.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Hosting Strategy: 100% serverless, zero-config static site hosted on Netlify, requiring no backend python execution or database connections.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335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EXPECTED OUTCOMES &amp; EVALUATION METRICS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5795962" y="6248400"/>
            <a:ext cx="60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endParaRPr/>
          </a:p>
        </p:txBody>
      </p:sp>
      <p:pic>
        <p:nvPicPr>
          <p:cNvPr id="200" name="Google Shape;2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D55C873A-1F96-7998-277C-D88752CA52F2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369A1"/>
                </a:solidFill>
                <a:latin typeface="Montserrat SemiBold"/>
              </a:defRPr>
            </a:pPr>
            <a:r>
              <a:t>Model Performance &amp; Uncertainty Quantification (UQ)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F36492B2-8253-E8AD-6570-9E45F0A5BE3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976FA8F7-DA2F-C0B8-E997-7A4E23985341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475569"/>
                </a:solidFill>
                <a:latin typeface="Open Sans"/>
              </a:defRPr>
            </a:pPr>
            <a:r>
              <a:t>• Performance Metrics on Test Set:</a:t>
            </a:r>
            <a:endParaRPr dirty="0"/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  - CompressorHealth R2: 93.27% | CombustorHealth R2: 65.58% | TurbineHealth R2: 73.44%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  - OverallHealth R2: 95.15% | Thrust R2: 99.13% | TSFC R2: 99.25%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Uncertainty Bounds (95% Confidence Interval from 1.96 * Validation RMSE):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  - Thrust: +/- 2,895 N | TSFC: +/- 0.0012 g/N/s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  - Compressor: +/- 3.8% | Combustor: +/- 3.4% | Turbine: +/- 4.8% | Overall: +/- 2.2%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Dashboard Visualization: Dynamic progress dials displaying prediction outputs alongside confidence intervals.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4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TEAM COMPOSITION &amp; CONTRIBUTIONS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795962" y="6248400"/>
            <a:ext cx="60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</a:t>
            </a:r>
            <a:endParaRPr/>
          </a:p>
        </p:txBody>
      </p:sp>
      <p:pic>
        <p:nvPicPr>
          <p:cNvPr id="217" name="Google Shape;2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4ABD59A2-A2B7-A670-E612-92F1A64A16FD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369A1"/>
                </a:solidFill>
                <a:latin typeface="Montserrat SemiBold"/>
              </a:defRPr>
            </a:pPr>
            <a:r>
              <a:t>Roles and Responsibilities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4949AB72-4B17-95A0-E642-A53FBBC348A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217B6AF4-75B8-512B-D4DC-E243562B9A32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475569"/>
                </a:solidFill>
                <a:latin typeface="Open Sans"/>
              </a:defRPr>
            </a:pPr>
            <a:r>
              <a:t>• Sudais Farooq - Project Lead &amp; Core Engineer: Developed the PyTorch PINN model, implemented the calorically semi-perfect gas thermodynamics loss functions, and compiled the training pipeline.</a:t>
            </a:r>
            <a:endParaRPr dirty="0"/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Front-End Developer: Designed the widescreen HUD-themed glassmorphism dashboard, and implemented the browser-based matrix multiplier model runner.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QA / System Deployer: Configured the local Express server, and prepared the Netlify static hosting deployment configurations.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11618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APPENDIX &amp; REFERENCES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8F9C2EDD-3F08-E8ED-48BD-532960DFEF16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369A1"/>
                </a:solidFill>
                <a:latin typeface="Montserrat SemiBold"/>
              </a:defRPr>
            </a:pPr>
            <a:r>
              <a:t>References &amp; Documentation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BA05A501-DA90-0C56-DCE3-E3FDDFA7FA4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DDB0C920-EBA3-583B-82B7-8F2D40D4930F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475569"/>
                </a:solidFill>
                <a:latin typeface="Open Sans"/>
              </a:defRPr>
            </a:pPr>
            <a:r>
              <a:t>• Reference 1: Challenge specifications and flight envelopes defined in HAL-IIT Indore Hackathon Problem Statement 2 (PS 2) pages.</a:t>
            </a:r>
            <a:endParaRPr dirty="0"/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Reference 2: Hill, P. G., &amp; Peterson, C. R., 'Mechanics and Thermodynamics of Propulsion', 2nd Edition.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Project Repository: https://github.com/SudaisFarooq/Aerothon</a:t>
            </a:r>
          </a:p>
          <a:p>
            <a:pPr>
              <a:defRPr sz="1800">
                <a:solidFill>
                  <a:srgbClr val="475569"/>
                </a:solidFill>
                <a:latin typeface="Open Sans"/>
              </a:defRPr>
            </a:pPr>
            <a:r>
              <a:t>• Live Web Application URL: https://github.com/SudaisFarooq/Aerothon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Widescreen</PresentationFormat>
  <Paragraphs>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Montserrat SemiBold</vt:lpstr>
      <vt:lpstr>Open Sans</vt:lpstr>
      <vt:lpstr>Arial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Saket Jaiswal</cp:lastModifiedBy>
  <cp:revision>1</cp:revision>
  <dcterms:modified xsi:type="dcterms:W3CDTF">2026-07-02T04:45:28Z</dcterms:modified>
</cp:coreProperties>
</file>