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Montserrat" panose="00000500000000000000" pitchFamily="2" charset="0"/>
      <p:regular r:id="rId12"/>
      <p:bold r:id="rId13"/>
      <p:italic r:id="rId14"/>
      <p:boldItalic r:id="rId15"/>
    </p:embeddedFont>
    <p:embeddedFont>
      <p:font typeface="Montserrat SemiBold" panose="020F0502020204030204" pitchFamily="2" charset="0"/>
      <p:regular r:id="rId16"/>
      <p:bold r:id="rId17"/>
      <p:italic r:id="rId18"/>
      <p:boldItalic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52675" y="3201441"/>
            <a:ext cx="7486650" cy="161716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235392" y="1277391"/>
            <a:ext cx="9721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AEROTHON 2026 - HAL x IITI</a:t>
            </a:r>
            <a:endParaRPr/>
          </a:p>
        </p:txBody>
      </p:sp>
      <p:pic>
        <p:nvPicPr>
          <p:cNvPr id="87" name="Google Shape;87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19350" y="2115591"/>
            <a:ext cx="735330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2924175" y="3611016"/>
            <a:ext cx="63436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334155"/>
                </a:solidFill>
                <a:latin typeface="Open Sans"/>
              </a:defRPr>
            </a:pPr>
            <a:r>
              <a:t>Team Name: Aerothona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2924175" y="4071937"/>
            <a:ext cx="63436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334155"/>
                </a:solidFill>
                <a:latin typeface="Open Sans"/>
              </a:defRPr>
            </a:pPr>
            <a:r>
              <a:t>Participants: Sudais Farooq</a:t>
            </a:r>
            <a:endParaRPr/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750" y="4944825"/>
            <a:ext cx="1639300" cy="17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51687" y="5107975"/>
            <a:ext cx="3925114" cy="161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99040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Real-Time Four-Stage Turbojet Subsystem Health Estimation</a:t>
            </a:r>
            <a:endParaRPr dirty="0"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PROBLEM UNDERSTANDING &amp; MOTIVATION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Goal: Monitor 4-stage turbojet state by estimating hidden component health (Compressor, Combustor, Turbine) &amp; performance (Thrust, TSFC).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Motivation: Direct measurement of turbine inlet temperature (T3) is impossible in real-time due to extreme heat.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Significance: Real-time diagnostics prevent engine failures and optimize fuel efficiency.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Envelope: Speeds up to 80,941 RPM and altitudes up to 12,053 m; wear progresses over 30 cycles.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5800725" y="6248400"/>
            <a:ext cx="59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endParaRPr/>
          </a:p>
        </p:txBody>
      </p:sp>
      <p:pic>
        <p:nvPicPr>
          <p:cNvPr id="109" name="Google Shape;109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48185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LITERATURE REVIEW / EXISTING APPROACHES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5800725" y="6248400"/>
            <a:ext cx="59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/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3FCAE9A5-D5BC-FD02-1037-7A44538C6E12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Empirical Models vs. Physics-Informed Digital Twins</a:t>
            </a:r>
            <a:endParaRPr dirty="0"/>
          </a:p>
        </p:txBody>
      </p:sp>
      <p:pic>
        <p:nvPicPr>
          <p:cNvPr id="5" name="Google Shape;99;p14" descr="image.png">
            <a:extLst>
              <a:ext uri="{FF2B5EF4-FFF2-40B4-BE49-F238E27FC236}">
                <a16:creationId xmlns:a16="http://schemas.microsoft.com/office/drawing/2014/main" id="{58BC1821-35FE-521F-2DA3-5C7D193515E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2;p14">
            <a:extLst>
              <a:ext uri="{FF2B5EF4-FFF2-40B4-BE49-F238E27FC236}">
                <a16:creationId xmlns:a16="http://schemas.microsoft.com/office/drawing/2014/main" id="{B2D1AB45-3A64-10F8-1DA7-8B3CA9B163FB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Data-Driven Models: Standard ML (MLP, XGBoost) ignores physical laws and predicts non-physical states.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Constant Heat Assumptions: Convention assumes gamma = 1.4, which fails above 1,000 K as gas properties change.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Physics-Informed Neural Networks: Combines data-driven execution speed with thermodynamics constraints.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Selected Framework: Grey-box PINN integrating temperature-dependent specific heats (Cp(T) polynomials).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228850"/>
            <a:ext cx="8572500" cy="3356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6"/>
          <p:cNvSpPr txBox="1"/>
          <p:nvPr/>
        </p:nvSpPr>
        <p:spPr>
          <a:xfrm>
            <a:off x="952500" y="571500"/>
            <a:ext cx="11001375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PROPOSED METHODOLOGY &amp; TECHNICAL APPROACH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762000" y="571500"/>
            <a:ext cx="57150" cy="9906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5791200" y="6248400"/>
            <a:ext cx="609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endParaRPr/>
          </a:p>
        </p:txBody>
      </p:sp>
      <p:pic>
        <p:nvPicPr>
          <p:cNvPr id="145" name="Google Shape;14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097467AD-63AF-0FA4-4A22-3827DCA0CE2F}"/>
              </a:ext>
            </a:extLst>
          </p:cNvPr>
          <p:cNvSpPr txBox="1"/>
          <p:nvPr/>
        </p:nvSpPr>
        <p:spPr>
          <a:xfrm>
            <a:off x="1102442" y="2337005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Grey-Box Physics-Informed Neural Network (PINN)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5802B9E2-5E32-1BB9-8825-B6165E19815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02442" y="2356055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43F6D951-73EB-8D05-A5E5-6A005C60B5A9}"/>
              </a:ext>
            </a:extLst>
          </p:cNvPr>
          <p:cNvSpPr txBox="1"/>
          <p:nvPr/>
        </p:nvSpPr>
        <p:spPr>
          <a:xfrm>
            <a:off x="1207217" y="2691335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Architecture: 13-input MLP (sensors + cycle) -&gt; Dense layers -&gt; 6 outputs.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Gas Dynamics: Computes Cp(T) dynamically at stage temperatures to model gas properties: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  Cp(T) = 1005 + 0.05 * T + 1.5e-4 * T^2 - 8e-8 * T^3 J/(kg.K)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Physics Losses: Enforces isentropic work limits and combustor pressure recovery ratio (P3/P2 = 0.949).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Optimizer: Composite loss trained via Adam with Cosine Annealing learning rate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481857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DATA SOURCES &amp; PREPROCESSING</a:t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5800725" y="6248400"/>
            <a:ext cx="59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endParaRPr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E2B74A93-26E3-F1F7-7D30-FE25F9EE847C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Telemetry Scaling &amp; Dataset Analysis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15033D09-E504-38CB-B770-2303E9818D91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B49456A6-D140-09CA-B389-C3B4A5D8C898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Data Source: HAL PS-2 synthetic telemetry (10 engine fleets tracked over 30 cycles).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Cycle Feature: Prepended Cycle (index 0) to represent temporal wear progression.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Standard Scaling: Normalized inputs &amp; targets around zero to ensure balanced backpropagation gradients.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Unscaling Tensors: Restores physical units inside loss function to evaluate thermodynamics equations.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228850"/>
            <a:ext cx="8572500" cy="29904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952500" y="571500"/>
            <a:ext cx="11001375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MODEL ARCHITECTURE / IMPLEMENTATION PLAN</a:t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762000" y="571500"/>
            <a:ext cx="57150" cy="9906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5795962" y="6248400"/>
            <a:ext cx="60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</a:t>
            </a:r>
            <a:endParaRPr/>
          </a:p>
        </p:txBody>
      </p:sp>
      <p:pic>
        <p:nvPicPr>
          <p:cNvPr id="181" name="Google Shape;18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E201B0AE-D27A-963C-D6AE-71E26950C59A}"/>
              </a:ext>
            </a:extLst>
          </p:cNvPr>
          <p:cNvSpPr txBox="1"/>
          <p:nvPr/>
        </p:nvSpPr>
        <p:spPr>
          <a:xfrm>
            <a:off x="1033616" y="2400747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Model Export &amp; Serverless Client-Side Deployment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1C84B963-8A88-75E4-BAF8-56C15D1587D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33616" y="2419797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7D2B192-726F-6C32-D8C2-70B19266B5D7}"/>
              </a:ext>
            </a:extLst>
          </p:cNvPr>
          <p:cNvSpPr txBox="1"/>
          <p:nvPr/>
        </p:nvSpPr>
        <p:spPr>
          <a:xfrm>
            <a:off x="1138391" y="2755077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Training: Trained in PyTorch over 800 epochs.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Model Conversion: Extracted weights, biases, and scaling factors from PyTorch .pt file to weights.js.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Client-Side Run: Network forward pass computed locally inside browser via Javascript.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Hosting Strategy: 100% serverless static website hosted on Netlify, requiring no backend server.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335607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9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EXPECTED OUTCOMES &amp; EVALUATION METRICS</a:t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5795962" y="6248400"/>
            <a:ext cx="60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</a:t>
            </a:r>
            <a:endParaRPr/>
          </a:p>
        </p:txBody>
      </p:sp>
      <p:pic>
        <p:nvPicPr>
          <p:cNvPr id="200" name="Google Shape;20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D55C873A-1F96-7998-277C-D88752CA52F2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FFFF"/>
                </a:solidFill>
                <a:latin typeface="Outfit"/>
              </a:defRPr>
            </a:pPr>
            <a:r>
              <a:t>Model Performance &amp; Uncertainty Quantification (UQ)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F36492B2-8253-E8AD-6570-9E45F0A5BE3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1285875" y="2278380"/>
          <a:ext cx="6400800" cy="276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280160"/>
                <a:gridCol w="2011680"/>
              </a:tblGrid>
              <a:tr h="39571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Metric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R²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95% Confidence Interval</a:t>
                      </a:r>
                    </a:p>
                  </a:txBody>
                  <a:tcPr/>
                </a:tc>
              </a:tr>
              <a:tr h="39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CompressorHealth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0.0195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93.27%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± 3.80%</a:t>
                      </a:r>
                    </a:p>
                  </a:txBody>
                  <a:tcPr/>
                </a:tc>
              </a:tr>
              <a:tr h="39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CombustorHealth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0.0174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65.58%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± 3.40%</a:t>
                      </a:r>
                    </a:p>
                  </a:txBody>
                  <a:tcPr/>
                </a:tc>
              </a:tr>
              <a:tr h="39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TurbineHealth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0.0247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73.44%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± 4.80%</a:t>
                      </a:r>
                    </a:p>
                  </a:txBody>
                  <a:tcPr/>
                </a:tc>
              </a:tr>
              <a:tr h="39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OverallHealth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0.0113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95.15%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± 2.20%</a:t>
                      </a:r>
                    </a:p>
                  </a:txBody>
                  <a:tcPr/>
                </a:tc>
              </a:tr>
              <a:tr h="39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Engine Thrust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1476.8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99.13%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± 2,895 N</a:t>
                      </a:r>
                    </a:p>
                  </a:txBody>
                  <a:tcPr/>
                </a:tc>
              </a:tr>
              <a:tr h="39573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TSFC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0.0006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99.25%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± 0.0012 g/N/s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481857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TEAM COMPOSITION &amp; CONTRIBUTIONS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0"/>
          <p:cNvSpPr txBox="1"/>
          <p:nvPr/>
        </p:nvSpPr>
        <p:spPr>
          <a:xfrm>
            <a:off x="5795962" y="6248400"/>
            <a:ext cx="60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7</a:t>
            </a:r>
            <a:endParaRPr/>
          </a:p>
        </p:txBody>
      </p:sp>
      <p:pic>
        <p:nvPicPr>
          <p:cNvPr id="217" name="Google Shape;21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4ABD59A2-A2B7-A670-E612-92F1A64A16FD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Roles and Responsibilities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4949AB72-4B17-95A0-E642-A53FBBC348A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17B6AF4-75B8-512B-D4DC-E243562B9A32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Sudais Farooq - Project Lead &amp; Core Engineer: Developed PyTorch PINN model &amp; loss function.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Front-End Developer: Built HUD dashboard &amp; client-side matrix math runner.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QA &amp; Deployment: Configured local Express server &amp; Netlify static hosting.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116187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APPENDIX &amp; REFERENCES</a:t>
            </a:r>
            <a:endParaRPr/>
          </a:p>
        </p:txBody>
      </p:sp>
      <p:sp>
        <p:nvSpPr>
          <p:cNvPr id="228" name="Google Shape;228;p21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8F9C2EDD-3F08-E8ED-48BD-532960DFEF16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References &amp; Documentation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BA05A501-DA90-0C56-DCE3-E3FDDFA7FA4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DB0C920-EBA3-583B-82B7-8F2D40D4930F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tIns="91440" bIns="9144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475569"/>
                </a:solidFill>
                <a:latin typeface="Open Sans"/>
              </a:defRPr>
            </a:pPr>
            <a:r>
              <a:t>• Reference 1: HAL-IIT Indore Hackathon Problem Statement 2 (PS 2) specifications.</a:t>
            </a:r>
            <a:endParaRPr dirty="0"/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Reference 2: Hill &amp; Peterson, 'Mechanics and Thermodynamics of Propulsion', 2nd Edition.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Code Repository: https://github.com/SudaisFarooq/Aerothon</a:t>
            </a:r>
          </a:p>
          <a:p>
            <a:pPr>
              <a:defRPr sz="1100">
                <a:solidFill>
                  <a:srgbClr val="475569"/>
                </a:solidFill>
                <a:latin typeface="Open Sans"/>
              </a:defRPr>
            </a:pPr>
            <a:r>
              <a:t>• Live Web App URL: https://github.com/SudaisFarooq/Aerothon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Microsoft Office PowerPoint</Application>
  <PresentationFormat>Widescreen</PresentationFormat>
  <Paragraphs>34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Montserrat SemiBold</vt:lpstr>
      <vt:lpstr>Open Sans</vt:lpstr>
      <vt:lpstr>Arial</vt:lpstr>
      <vt:lpstr>Montserrat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Saket Jaiswal</cp:lastModifiedBy>
  <cp:revision>1</cp:revision>
  <dcterms:modified xsi:type="dcterms:W3CDTF">2026-07-02T04:45:28Z</dcterms:modified>
</cp:coreProperties>
</file>